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5"/>
  </p:notesMasterIdLst>
  <p:sldIdLst>
    <p:sldId id="256" r:id="rId5"/>
    <p:sldId id="2146847054" r:id="rId6"/>
    <p:sldId id="262" r:id="rId7"/>
    <p:sldId id="265" r:id="rId8"/>
    <p:sldId id="266" r:id="rId9"/>
    <p:sldId id="267" r:id="rId10"/>
    <p:sldId id="268" r:id="rId11"/>
    <p:sldId id="2146847055" r:id="rId12"/>
    <p:sldId id="269" r:id="rId13"/>
    <p:sldId id="25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C3D9CC-52A4-7BB9-5926-A17EAD909109}" v="32" dt="2024-12-19T12:09:51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4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7/21/2025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7/21/2025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7/21/2025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7/21/2025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7/21/2025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hyperlink" Target="https://github.com/devsaini889/IBM-skillbuild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 Salary Prediction Using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529" y="4586365"/>
            <a:ext cx="7980183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1. Dev Saini Amity University Rajasthan B.Tech(cse)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 </a:t>
            </a:r>
            <a:endParaRPr lang="en-US" dirty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>
            <a:normAutofit/>
          </a:bodyPr>
          <a:lstStyle/>
          <a:p>
            <a:r>
              <a:rPr lang="en-US" dirty="0"/>
              <a:t>Information asymmetry between employers and employees regarding fair compensation</a:t>
            </a:r>
          </a:p>
          <a:p>
            <a:r>
              <a:rPr lang="en-US" dirty="0"/>
              <a:t>High employee turnover due to salary dissatisfaction and inadequate compensation</a:t>
            </a:r>
          </a:p>
          <a:p>
            <a:r>
              <a:rPr lang="en-US" dirty="0"/>
              <a:t>Difficulty in determining competitive and fair salary structures across different roles</a:t>
            </a:r>
          </a:p>
          <a:p>
            <a:r>
              <a:rPr lang="en-US" dirty="0"/>
              <a:t>Lack of data-driven approaches for salary benchmarking and negotiation</a:t>
            </a:r>
          </a:p>
          <a:p>
            <a:r>
              <a:rPr lang="en-US" dirty="0"/>
              <a:t>Need for systematic evaluation of employee value based on experience and skills</a:t>
            </a:r>
          </a:p>
          <a:p>
            <a:pPr marL="0" indent="0">
              <a:buNone/>
            </a:pP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Programming Language</a:t>
            </a:r>
            <a:r>
              <a:rPr lang="en-IN" dirty="0"/>
              <a:t>: Python 3.x for implementation</a:t>
            </a:r>
          </a:p>
          <a:p>
            <a:r>
              <a:rPr lang="en-IN" b="1" dirty="0"/>
              <a:t>Machine Learning Library</a:t>
            </a:r>
            <a:r>
              <a:rPr lang="en-IN" dirty="0"/>
              <a:t>: Scikit-learn for  regression implementation</a:t>
            </a:r>
          </a:p>
          <a:p>
            <a:r>
              <a:rPr lang="en-IN" b="1" dirty="0"/>
              <a:t>Data Manipulation</a:t>
            </a:r>
            <a:r>
              <a:rPr lang="en-IN" dirty="0"/>
              <a:t>: Pandas for data preprocessing and analysis</a:t>
            </a:r>
          </a:p>
          <a:p>
            <a:r>
              <a:rPr lang="en-IN" b="1" dirty="0"/>
              <a:t>Numerical Computing</a:t>
            </a:r>
            <a:r>
              <a:rPr lang="en-IN" dirty="0"/>
              <a:t>: NumPy for mathematical operations</a:t>
            </a:r>
          </a:p>
          <a:p>
            <a:r>
              <a:rPr lang="en-IN" b="1" dirty="0"/>
              <a:t>Data Visualization</a:t>
            </a:r>
            <a:r>
              <a:rPr lang="en-IN" dirty="0"/>
              <a:t>: Matplotlib and Seaborn for graphical representations</a:t>
            </a:r>
          </a:p>
          <a:p>
            <a:r>
              <a:rPr lang="en-IN" b="1" dirty="0"/>
              <a:t>Development Environment</a:t>
            </a:r>
            <a:r>
              <a:rPr lang="en-IN" dirty="0"/>
              <a:t>: </a:t>
            </a:r>
            <a:r>
              <a:rPr lang="en-IN" dirty="0" err="1"/>
              <a:t>Jupyter</a:t>
            </a:r>
            <a:r>
              <a:rPr lang="en-IN" dirty="0"/>
              <a:t> Notebook for interactive development</a:t>
            </a:r>
          </a:p>
          <a:p>
            <a:r>
              <a:rPr lang="en-IN" b="1" dirty="0"/>
              <a:t>Algorithm Choice</a:t>
            </a:r>
            <a:r>
              <a:rPr lang="en-IN" dirty="0"/>
              <a:t>: Linear Regression for its interpretability and effectiveness</a:t>
            </a:r>
          </a:p>
          <a:p>
            <a:r>
              <a:rPr lang="en-IN" b="1" dirty="0"/>
              <a:t>Model Serialization</a:t>
            </a:r>
            <a:r>
              <a:rPr lang="en-IN" dirty="0"/>
              <a:t>: Pickle/</a:t>
            </a:r>
            <a:r>
              <a:rPr lang="en-IN" dirty="0" err="1"/>
              <a:t>Joblib</a:t>
            </a:r>
            <a:r>
              <a:rPr lang="en-IN" dirty="0"/>
              <a:t> for model persistence</a:t>
            </a: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F0871F-2198-9E37-C96F-3611AA199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Data Collection &amp; Preprocessing:</a:t>
            </a:r>
          </a:p>
          <a:p>
            <a:pPr marL="666900" lvl="1" indent="-342900">
              <a:buFont typeface="+mj-lt"/>
              <a:buAutoNum type="arabicPeriod"/>
            </a:pPr>
            <a:r>
              <a:rPr lang="en-US" dirty="0"/>
              <a:t>Gather employee data including experience, education, skills, and demographics</a:t>
            </a:r>
          </a:p>
          <a:p>
            <a:pPr marL="666900" lvl="1" indent="-342900">
              <a:buFont typeface="+mj-lt"/>
              <a:buAutoNum type="arabicPeriod"/>
            </a:pPr>
            <a:r>
              <a:rPr lang="en-US" dirty="0"/>
              <a:t>Handle missing values and outliers using standard preprocessing techniques</a:t>
            </a:r>
          </a:p>
          <a:p>
            <a:pPr marL="666900" lvl="1" indent="-342900">
              <a:buFont typeface="+mj-lt"/>
              <a:buAutoNum type="arabicPeriod"/>
            </a:pPr>
            <a:r>
              <a:rPr lang="en-US" dirty="0"/>
              <a:t>Feature engineering and data normalization for optimal model performance</a:t>
            </a:r>
          </a:p>
          <a:p>
            <a:r>
              <a:rPr lang="en-US" b="1" dirty="0"/>
              <a:t>Model Development:</a:t>
            </a:r>
          </a:p>
          <a:p>
            <a:pPr marL="666900" lvl="1" indent="-342900">
              <a:buFont typeface="+mj-lt"/>
              <a:buAutoNum type="arabicPeriod"/>
            </a:pPr>
            <a:r>
              <a:rPr lang="en-US" dirty="0"/>
              <a:t>Split data into training (80%) and testing (20%) sets following best practices</a:t>
            </a:r>
          </a:p>
          <a:p>
            <a:pPr marL="666900" lvl="1" indent="-342900">
              <a:buFont typeface="+mj-lt"/>
              <a:buAutoNum type="arabicPeriod"/>
            </a:pPr>
            <a:r>
              <a:rPr lang="en-US" dirty="0"/>
              <a:t>Apply Linear Regression using Ordinary Least Squares method</a:t>
            </a:r>
          </a:p>
          <a:p>
            <a:pPr marL="666900" lvl="1" indent="-342900">
              <a:buFont typeface="+mj-lt"/>
              <a:buAutoNum type="arabicPeriod"/>
            </a:pPr>
            <a:r>
              <a:rPr lang="en-US" dirty="0"/>
              <a:t>Train model using the relationship y = mx + b (where y=salary, x=experience)</a:t>
            </a:r>
          </a:p>
          <a:p>
            <a:r>
              <a:rPr lang="en-US" b="1" dirty="0"/>
              <a:t>Deployment Options:</a:t>
            </a:r>
          </a:p>
          <a:p>
            <a:pPr marL="666900" lvl="1" indent="-342900">
              <a:buFont typeface="+mj-lt"/>
              <a:buAutoNum type="arabicPeriod"/>
            </a:pPr>
            <a:r>
              <a:rPr lang="en-US" dirty="0"/>
              <a:t>Create REST API using Flask/Django framework for web deployment</a:t>
            </a:r>
          </a:p>
          <a:p>
            <a:pPr marL="666900" lvl="1" indent="-342900">
              <a:buFont typeface="+mj-lt"/>
              <a:buAutoNum type="arabicPeriod"/>
            </a:pPr>
            <a:r>
              <a:rPr lang="en-US" dirty="0"/>
              <a:t>Containerize application using Docker for scalability</a:t>
            </a:r>
          </a:p>
          <a:p>
            <a:pPr marL="666900" lvl="1" indent="-342900">
              <a:buFont typeface="+mj-lt"/>
              <a:buAutoNum type="arabicPeriod"/>
            </a:pPr>
            <a:r>
              <a:rPr lang="en-US" dirty="0"/>
              <a:t>Deploy on cloud platforms (AWS, Azure, Google Cloud) for accessibility</a:t>
            </a:r>
          </a:p>
          <a:p>
            <a:pPr marL="666900" lvl="1" indent="-342900">
              <a:buFont typeface="+mj-lt"/>
              <a:buAutoNum type="arabicPeriod"/>
            </a:pPr>
            <a:r>
              <a:rPr lang="en-US" dirty="0"/>
              <a:t>Implement monitoring and logging systems for production use</a:t>
            </a: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304455-6802-6CA9-8475-2F6DD1B8D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107" y="1789062"/>
            <a:ext cx="11029615" cy="467332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sz="2800" b="1" dirty="0"/>
          </a:p>
          <a:p>
            <a:pPr marL="305435" indent="-305435"/>
            <a:endParaRPr lang="en-US" sz="2800" dirty="0">
              <a:ea typeface="+mn-lt"/>
              <a:cs typeface="+mn-lt"/>
            </a:endParaRPr>
          </a:p>
          <a:p>
            <a:pPr marL="305435" indent="-305435"/>
            <a:endParaRPr lang="en-US" sz="2800" dirty="0">
              <a:ea typeface="+mn-lt"/>
              <a:cs typeface="+mn-lt"/>
            </a:endParaRPr>
          </a:p>
          <a:p>
            <a:pPr marL="305435" indent="-305435"/>
            <a:endParaRPr lang="en-US" sz="2800" dirty="0">
              <a:ea typeface="+mn-lt"/>
              <a:cs typeface="+mn-lt"/>
            </a:endParaRPr>
          </a:p>
          <a:p>
            <a:pPr marL="305435" indent="-305435"/>
            <a:endParaRPr lang="en-US" sz="2800" dirty="0">
              <a:ea typeface="+mn-lt"/>
              <a:cs typeface="+mn-lt"/>
            </a:endParaRPr>
          </a:p>
          <a:p>
            <a:pPr marL="305435" indent="-305435"/>
            <a:endParaRPr lang="en-US" sz="2800" dirty="0">
              <a:ea typeface="+mn-lt"/>
              <a:cs typeface="+mn-lt"/>
            </a:endParaRPr>
          </a:p>
          <a:p>
            <a:pPr marL="305435" indent="-305435"/>
            <a:endParaRPr lang="en-US" sz="2800" dirty="0">
              <a:ea typeface="+mn-lt"/>
              <a:cs typeface="+mn-lt"/>
            </a:endParaRPr>
          </a:p>
          <a:p>
            <a:pPr marL="305435" indent="-305435"/>
            <a:endParaRPr lang="en-US" sz="2800" dirty="0">
              <a:ea typeface="+mn-lt"/>
              <a:cs typeface="+mn-lt"/>
            </a:endParaRPr>
          </a:p>
          <a:p>
            <a:pPr marL="305435" indent="-305435"/>
            <a:r>
              <a:rPr lang="en-US" sz="2800" dirty="0">
                <a:ea typeface="+mn-lt"/>
                <a:cs typeface="+mn-lt"/>
                <a:hlinkClick r:id="rId2"/>
              </a:rPr>
              <a:t>https://github.com/devsaini889/IBM-skillbuild</a:t>
            </a:r>
            <a:endParaRPr lang="en-US" sz="2800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30D0C14-7A95-BB18-6ED9-DCB842766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58" y="1232452"/>
            <a:ext cx="3882503" cy="239858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3B13D19-3DC6-E47C-BE2D-F656C7B7FE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9833" y="806727"/>
            <a:ext cx="3882503" cy="24963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512D9C5-5159-58BF-616F-F18EA2E5C7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0438" y="806727"/>
            <a:ext cx="3882503" cy="201513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FD3F98B-6F78-167E-5951-5A2D919FF8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0268" y="2926429"/>
            <a:ext cx="3872673" cy="239859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31B36A8-7D4A-972A-647C-E180229CB8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9834" y="3381576"/>
            <a:ext cx="3882502" cy="249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Successfully developed an accurate salary prediction model with 85-97% reliability</a:t>
            </a:r>
          </a:p>
          <a:p>
            <a:r>
              <a:rPr lang="en-US" dirty="0"/>
              <a:t>Linear regression proved highly effective for modeling salary-experience relationships</a:t>
            </a:r>
          </a:p>
          <a:p>
            <a:r>
              <a:rPr lang="en-US" dirty="0"/>
              <a:t>System provides data-driven insights for fair compensation decisions</a:t>
            </a:r>
          </a:p>
          <a:p>
            <a:r>
              <a:rPr lang="en-US" dirty="0"/>
              <a:t>Helps reduce employee turnover by enabling competitive salary offerings</a:t>
            </a:r>
          </a:p>
          <a:p>
            <a:r>
              <a:rPr lang="en-US" dirty="0"/>
              <a:t>Facilitates transparent and unbiased salary determination processes</a:t>
            </a:r>
          </a:p>
          <a:p>
            <a:r>
              <a:rPr lang="en-US" dirty="0"/>
              <a:t>Supports HR departments in strategic workforce planning and budgeting</a:t>
            </a:r>
          </a:p>
          <a:p>
            <a:r>
              <a:rPr lang="en-US" dirty="0"/>
              <a:t>Contributes to establishing equitable compensation practices across organizations</a:t>
            </a:r>
          </a:p>
          <a:p>
            <a:pPr marL="0" indent="0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38FD1-D00E-E75B-705C-564F06D93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Model Enhancements:</a:t>
            </a:r>
          </a:p>
          <a:p>
            <a:pPr marL="666900" lvl="1" indent="-342900">
              <a:buFont typeface="+mj-lt"/>
              <a:buAutoNum type="arabicPeriod"/>
            </a:pPr>
            <a:r>
              <a:rPr lang="en-US" dirty="0"/>
              <a:t>Incorporate multiple regression features (education, location, industry)</a:t>
            </a:r>
          </a:p>
          <a:p>
            <a:pPr marL="666900" lvl="1" indent="-342900">
              <a:buFont typeface="+mj-lt"/>
              <a:buAutoNum type="arabicPeriod"/>
            </a:pPr>
            <a:r>
              <a:rPr lang="en-US" dirty="0"/>
              <a:t>Implement ensemble methods (Random Forest, Gradient Boosting)</a:t>
            </a:r>
          </a:p>
          <a:p>
            <a:pPr marL="666900" lvl="1" indent="-342900">
              <a:buFont typeface="+mj-lt"/>
              <a:buAutoNum type="arabicPeriod"/>
            </a:pPr>
            <a:r>
              <a:rPr lang="en-US" dirty="0"/>
              <a:t>Add real-time data integration for dynamic salary adjustments</a:t>
            </a:r>
          </a:p>
          <a:p>
            <a:r>
              <a:rPr lang="en-US" b="1" dirty="0"/>
              <a:t>System Improvements:</a:t>
            </a:r>
          </a:p>
          <a:p>
            <a:pPr marL="666900" lvl="1" indent="-342900">
              <a:buFont typeface="+mj-lt"/>
              <a:buAutoNum type="arabicPeriod"/>
            </a:pPr>
            <a:r>
              <a:rPr lang="en-US" dirty="0"/>
              <a:t>Develop user-friendly graphical interface</a:t>
            </a:r>
          </a:p>
          <a:p>
            <a:pPr marL="666900" lvl="1" indent="-342900">
              <a:buFont typeface="+mj-lt"/>
              <a:buAutoNum type="arabicPeriod"/>
            </a:pPr>
            <a:r>
              <a:rPr lang="en-US" dirty="0"/>
              <a:t>Integration with existing HR management systems</a:t>
            </a:r>
          </a:p>
          <a:p>
            <a:pPr marL="666900" lvl="1" indent="-342900">
              <a:buFont typeface="+mj-lt"/>
              <a:buAutoNum type="arabicPeriod"/>
            </a:pPr>
            <a:r>
              <a:rPr lang="en-US" dirty="0"/>
              <a:t>Mobile application development for on-the-go access</a:t>
            </a:r>
          </a:p>
          <a:p>
            <a:pPr marL="666900" lvl="1" indent="-342900">
              <a:buFont typeface="+mj-lt"/>
              <a:buAutoNum type="arabicPeriod"/>
            </a:pPr>
            <a:r>
              <a:rPr lang="en-US" dirty="0"/>
              <a:t>Advanced analytics dashboard with visualization tools</a:t>
            </a:r>
          </a:p>
          <a:p>
            <a:r>
              <a:rPr lang="en-US" b="1" dirty="0"/>
              <a:t>Advanced Features:</a:t>
            </a:r>
          </a:p>
          <a:p>
            <a:pPr marL="666900" lvl="1" indent="-342900">
              <a:buFont typeface="+mj-lt"/>
              <a:buAutoNum type="arabicPeriod"/>
            </a:pPr>
            <a:r>
              <a:rPr lang="en-US" dirty="0"/>
              <a:t>Machine learning pipeline automation using </a:t>
            </a:r>
            <a:r>
              <a:rPr lang="en-US" dirty="0" err="1"/>
              <a:t>MLOps</a:t>
            </a:r>
            <a:endParaRPr lang="en-US" dirty="0"/>
          </a:p>
          <a:p>
            <a:pPr marL="666900" lvl="1" indent="-342900">
              <a:buFont typeface="+mj-lt"/>
              <a:buAutoNum type="arabicPeriod"/>
            </a:pPr>
            <a:r>
              <a:rPr lang="en-US" dirty="0"/>
              <a:t>Incorporation of market trends and economic indicators</a:t>
            </a:r>
          </a:p>
          <a:p>
            <a:pPr marL="666900" lvl="1" indent="-342900">
              <a:buFont typeface="+mj-lt"/>
              <a:buAutoNum type="arabicPeriod"/>
            </a:pPr>
            <a:r>
              <a:rPr lang="en-US" dirty="0"/>
              <a:t>Predictive analytics for career growth trajectories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7C38BC-22B3-37B2-E0C3-812020A76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err="1"/>
              <a:t>Czasonis</a:t>
            </a:r>
            <a:r>
              <a:rPr lang="en-IN" dirty="0"/>
              <a:t>, M., Kritzman, M., &amp; Turkington, D. (2022). The Future of Prediction. State Street.</a:t>
            </a:r>
          </a:p>
          <a:p>
            <a:r>
              <a:rPr lang="en-IN" dirty="0"/>
              <a:t>Chen, L. et al. (2024). Enhancing Salary Prediction Accuracy with Advanced ML. ACE Conference.</a:t>
            </a:r>
          </a:p>
          <a:p>
            <a:r>
              <a:rPr lang="en-IN" dirty="0" err="1"/>
              <a:t>Asaduzzaman</a:t>
            </a:r>
            <a:r>
              <a:rPr lang="en-IN" dirty="0"/>
              <a:t>, M. et al. (2025). Predicting Employee Salaries Using Machine Learning. IRJMETS.</a:t>
            </a:r>
          </a:p>
          <a:p>
            <a:r>
              <a:rPr lang="en-IN" dirty="0" err="1"/>
              <a:t>Viroonluecha</a:t>
            </a:r>
            <a:r>
              <a:rPr lang="en-IN" dirty="0"/>
              <a:t>, P. &amp; </a:t>
            </a:r>
            <a:r>
              <a:rPr lang="en-IN" dirty="0" err="1"/>
              <a:t>Kaewkiriya</a:t>
            </a:r>
            <a:r>
              <a:rPr lang="en-IN" dirty="0"/>
              <a:t>, T. (2021). Salary Predictor System using Deep Learning.</a:t>
            </a:r>
          </a:p>
          <a:p>
            <a:r>
              <a:rPr lang="en-IN" dirty="0" err="1"/>
              <a:t>Erciulescu</a:t>
            </a:r>
            <a:r>
              <a:rPr lang="en-IN" dirty="0"/>
              <a:t>, A. &amp; </a:t>
            </a:r>
            <a:r>
              <a:rPr lang="en-IN" dirty="0" err="1"/>
              <a:t>Opsomer</a:t>
            </a:r>
            <a:r>
              <a:rPr lang="en-IN" dirty="0"/>
              <a:t>, J. (2022). Model-Based Employee Compensation Prediction. Royal Statistical Society.</a:t>
            </a:r>
          </a:p>
          <a:p>
            <a:r>
              <a:rPr lang="en-IN" dirty="0" err="1"/>
              <a:t>Kablaoui</a:t>
            </a:r>
            <a:r>
              <a:rPr lang="en-IN" dirty="0"/>
              <a:t>, A. &amp; Salman, R. (2024). Machine Learning Revolutionizing Salary Forecasts.</a:t>
            </a:r>
          </a:p>
          <a:p>
            <a:r>
              <a:rPr lang="en-IN" dirty="0"/>
              <a:t>International Journal of Advance Scientific Research and Engineering Trends (IJASRET)</a:t>
            </a:r>
          </a:p>
          <a:p>
            <a:r>
              <a:rPr lang="en-IN" dirty="0"/>
              <a:t>International Journal of Advance Research, Ideas and Innovations in Technology (IJARIIT)</a:t>
            </a: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c0fa2617-96bd-425d-8578-e93563fe37c5"/>
    <ds:schemaRef ds:uri="9162bd5b-4ed9-4da3-b376-05204580ba3f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50</TotalTime>
  <Words>593</Words>
  <Application>Microsoft Office PowerPoint</Application>
  <PresentationFormat>Widescreen</PresentationFormat>
  <Paragraphs>84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Employee Salary Prediction Using Regression</vt:lpstr>
      <vt:lpstr>OUTLINE</vt:lpstr>
      <vt:lpstr>Problem Statement</vt:lpstr>
      <vt:lpstr>System  Approach</vt:lpstr>
      <vt:lpstr>Algorithm &amp; Deployment</vt:lpstr>
      <vt:lpstr>Result</vt:lpstr>
      <vt:lpstr>Conclusion</vt:lpstr>
      <vt:lpstr>PowerPoint Presentation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Dev Saini</cp:lastModifiedBy>
  <cp:revision>38</cp:revision>
  <dcterms:created xsi:type="dcterms:W3CDTF">2021-05-26T16:50:10Z</dcterms:created>
  <dcterms:modified xsi:type="dcterms:W3CDTF">2025-07-21T18:06:07Z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